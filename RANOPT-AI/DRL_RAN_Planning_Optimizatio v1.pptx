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3"/>
  </p:normalViewPr>
  <p:slideViewPr>
    <p:cSldViewPr snapToGrid="0" snapToObjects="1">
      <p:cViewPr varScale="1">
        <p:scale>
          <a:sx n="105" d="100"/>
          <a:sy n="105" d="100"/>
        </p:scale>
        <p:origin x="8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217920" y="868680"/>
            <a:ext cx="5120640" cy="5120640"/>
          </a:xfrm>
          <a:prstGeom prst="ellipse">
            <a:avLst/>
          </a:prstGeom>
          <a:noFill/>
          <a:ln w="1587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766559" y="1417319"/>
            <a:ext cx="4023360" cy="4023360"/>
          </a:xfrm>
          <a:prstGeom prst="ellipse">
            <a:avLst/>
          </a:prstGeom>
          <a:noFill/>
          <a:ln w="1587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0" y="1965960"/>
            <a:ext cx="2926080" cy="2926080"/>
          </a:xfrm>
          <a:prstGeom prst="ellipse">
            <a:avLst/>
          </a:prstGeom>
          <a:noFill/>
          <a:ln w="1587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863840" y="2514600"/>
            <a:ext cx="1828800" cy="1828800"/>
          </a:xfrm>
          <a:prstGeom prst="ellipse">
            <a:avLst/>
          </a:prstGeom>
          <a:noFill/>
          <a:ln w="1587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A ONE-HOUR TECHNICAL SESSION FOR RF &amp; RAN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877824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Deep Reinforcement Learning
for RAN Planning &amp;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7D2E0"/>
                </a:solidFill>
                <a:latin typeface="Calibri"/>
              </a:rPr>
              <a:t>How DQN and PPO learn to tune coverage, capacity, mobility, interference, and energy the way an experienced RF engineer would — explained without the math.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4892040"/>
            <a:ext cx="4572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A99B0"/>
                </a:solidFill>
                <a:latin typeface="Calibri"/>
              </a:rPr>
              <a:t>60 MINUTES  ·  21 TOPICS  ·  ZERO EQUATIONS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What We'll Cover in 60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929383"/>
            <a:ext cx="1737360" cy="566928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929383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00–10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929383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475569"/>
                </a:solidFill>
                <a:latin typeface="Calibri"/>
              </a:rPr>
              <a:t>Why RAN optimization needs AI now, and what RL actually 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34055"/>
            <a:ext cx="1737360" cy="566928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734055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10–25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734055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475569"/>
                </a:solidFill>
                <a:latin typeface="Calibri"/>
              </a:rPr>
              <a:t>DQN and PPO explained simply, with RAN use cases for each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38727"/>
            <a:ext cx="1737360" cy="566928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538727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25–45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538727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475569"/>
                </a:solidFill>
                <a:latin typeface="Calibri"/>
              </a:rPr>
              <a:t>Deep dives: coverage &amp; capacity, mobility, energy, interference, planning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43399"/>
            <a:ext cx="1737360" cy="566928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343399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45–55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343399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475569"/>
                </a:solidFill>
                <a:latin typeface="Calibri"/>
              </a:rPr>
              <a:t>How training really works, risks, guardrails, and a decision guide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148071"/>
            <a:ext cx="1737360" cy="566928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5148071"/>
            <a:ext cx="1737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F3A"/>
                </a:solidFill>
                <a:latin typeface="Calibri"/>
              </a:rPr>
              <a:t>55–60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5148071"/>
            <a:ext cx="859536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475569"/>
                </a:solidFill>
                <a:latin typeface="Calibri"/>
              </a:rPr>
              <a:t>Takeaways and open discussion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Why AI Is Entering RAN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4008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Complexity has outgrown manual tuning.</a:t>
            </a:r>
            <a:r>
              <a:rPr sz="1700" b="0">
                <a:solidFill>
                  <a:srgbClr val="475569"/>
                </a:solidFill>
                <a:latin typeface="Calibri"/>
              </a:rPr>
              <a:t>  Multi-band, multi-vendor, massive MIMO, and dense small cells create far more tunable parameters than a team can hand-tune.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Rule-based SON hits a ceiling.</a:t>
            </a:r>
            <a:r>
              <a:rPr sz="1700" b="0">
                <a:solidFill>
                  <a:srgbClr val="475569"/>
                </a:solidFill>
                <a:latin typeface="Calibri"/>
              </a:rPr>
              <a:t>  Static thresholds handle known patterns, but not the combinatorial interactions across thousands of cells.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5G/6G add new control dimensions.</a:t>
            </a:r>
            <a:r>
              <a:rPr sz="1700" b="0">
                <a:solidFill>
                  <a:srgbClr val="475569"/>
                </a:solidFill>
                <a:latin typeface="Calibri"/>
              </a:rPr>
              <a:t>  Beamforming, energy targets, network slicing, and sensing all need coordinated, not isolated, tuning.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874519"/>
            <a:ext cx="4114800" cy="39319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0" y="210312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4B8A6"/>
                </a:solidFill>
                <a:latin typeface="Calibri"/>
              </a:rPr>
              <a:t>SCALE OF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60604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1F3A"/>
                </a:solidFill>
                <a:latin typeface="Calibri"/>
              </a:rPr>
              <a:t>1000s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063240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of cells per market, each with dozens of tunable 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65760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1F3A"/>
                </a:solidFill>
                <a:latin typeface="Calibri"/>
              </a:rPr>
              <a:t>24/7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114800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traffic patterns that shift hourly, daily, and seasonally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709160"/>
            <a:ext cx="3566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B1F3A"/>
                </a:solidFill>
                <a:latin typeface="Calibri"/>
              </a:rPr>
              <a:t>Multi-cell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5166360"/>
            <a:ext cx="35661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tradeoffs a single-cell fix can't see (coverage vs. interference)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The Limits of Traditional RAN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Reactive, not consequential.</a:t>
            </a:r>
            <a:r>
              <a:rPr sz="1700" b="0">
                <a:solidFill>
                  <a:srgbClr val="475569"/>
                </a:solidFill>
                <a:latin typeface="Calibri"/>
              </a:rPr>
              <a:t>  Rule-based SON and legacy ML respond to known patterns — they don't learn the downstream effect of an action.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Blind to delayed tradeoffs.</a:t>
            </a:r>
            <a:r>
              <a:rPr sz="1700" b="0">
                <a:solidFill>
                  <a:srgbClr val="475569"/>
                </a:solidFill>
                <a:latin typeface="Calibri"/>
              </a:rPr>
              <a:t>  Traditional tools optimize what they can see right now, not what happens two rings of cells later.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703320"/>
            <a:ext cx="10881360" cy="2286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59E0B"/>
                </a:solidFill>
                <a:latin typeface="Calibri"/>
              </a:rPr>
              <a:t>A FAMILIAR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43400"/>
            <a:ext cx="102412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41B2E"/>
                </a:solidFill>
                <a:latin typeface="Calibri"/>
              </a:rPr>
              <a:t>You boost power to fix a coverage hole. SINR improves locally — problem solved, according to the rule. But two rings of cells out, interference quietly rises, degrading throughput for neighbors the rule never looked 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What Is Reinforcement Learning? (Plain-Language Loop)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658368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874519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75569"/>
                </a:solidFill>
                <a:latin typeface="Calibri"/>
              </a:rPr>
              <a:t>The optimization controller making decisions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532887"/>
            <a:ext cx="108813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532887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532887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75569"/>
                </a:solidFill>
                <a:latin typeface="Calibri"/>
              </a:rPr>
              <a:t>The live or simulated RAN — cells, UEs, traffic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91255"/>
            <a:ext cx="10881360" cy="658368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191255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191255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75569"/>
                </a:solidFill>
                <a:latin typeface="Calibri"/>
              </a:rPr>
              <a:t>What it observes: SINR, PRB load, throughput, latency, handovers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49623"/>
            <a:ext cx="108813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849623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849623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75569"/>
                </a:solidFill>
                <a:latin typeface="Calibri"/>
              </a:rPr>
              <a:t>A parameter it changes: tilt, power, HO offset, sched. weight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507991"/>
            <a:ext cx="10881360" cy="658368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507991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Reward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507991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75569"/>
                </a:solidFill>
                <a:latin typeface="Calibri"/>
              </a:rPr>
              <a:t>A score for network health: throughput ↑, drops ↓, energy 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94959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4B8A6"/>
                </a:solidFill>
                <a:latin typeface="Calibri"/>
              </a:rPr>
              <a:t>The loop: observe → act → get scored → learn → repeat — thousands of times in simulation before ever touching a live network.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Simple RL vs. Deep RL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212080" cy="39319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09360" y="1874519"/>
            <a:ext cx="5212080" cy="39319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48839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1F3A"/>
                </a:solidFill>
                <a:latin typeface="Calibri"/>
              </a:rPr>
              <a:t>Simple (Tabular) 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88919"/>
            <a:ext cx="45720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</a:t>
            </a:r>
            <a:r>
              <a:rPr sz="1500">
                <a:solidFill>
                  <a:srgbClr val="475569"/>
                </a:solidFill>
                <a:latin typeface="Calibri"/>
              </a:rPr>
              <a:t>Keeps a lookup table: one best action per state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</a:t>
            </a:r>
            <a:r>
              <a:rPr sz="1500">
                <a:solidFill>
                  <a:srgbClr val="475569"/>
                </a:solidFill>
                <a:latin typeface="Calibri"/>
              </a:rPr>
              <a:t>Works only for small, discrete problems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</a:t>
            </a:r>
            <a:r>
              <a:rPr sz="1500">
                <a:solidFill>
                  <a:srgbClr val="475569"/>
                </a:solidFill>
                <a:latin typeface="Calibri"/>
              </a:rPr>
              <a:t>Examples: Q-learning, SARSA, Monte Carlo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</a:t>
            </a:r>
            <a:r>
              <a:rPr sz="1500">
                <a:solidFill>
                  <a:srgbClr val="475569"/>
                </a:solidFill>
                <a:latin typeface="Calibri"/>
              </a:rPr>
              <a:t>Breaks down once state space gets large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48839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Deep 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88919"/>
            <a:ext cx="45720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</a:t>
            </a:r>
            <a:r>
              <a:rPr sz="1500">
                <a:solidFill>
                  <a:srgbClr val="D8E1EE"/>
                </a:solidFill>
                <a:latin typeface="Calibri"/>
              </a:rPr>
              <a:t>Replaces the table with a neural network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</a:t>
            </a:r>
            <a:r>
              <a:rPr sz="1500">
                <a:solidFill>
                  <a:srgbClr val="D8E1EE"/>
                </a:solidFill>
                <a:latin typeface="Calibri"/>
              </a:rPr>
              <a:t>Generalizes across states it hasn't exactly seen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</a:t>
            </a:r>
            <a:r>
              <a:rPr sz="1500">
                <a:solidFill>
                  <a:srgbClr val="D8E1EE"/>
                </a:solidFill>
                <a:latin typeface="Calibri"/>
              </a:rPr>
              <a:t>Examples: DQN, PPO, and others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▸  </a:t>
            </a:r>
            <a:r>
              <a:rPr sz="1500">
                <a:solidFill>
                  <a:srgbClr val="D8E1EE"/>
                </a:solidFill>
                <a:latin typeface="Calibri"/>
              </a:rPr>
              <a:t>Needed the moment state is large or continuous — which is basically always in real RAN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Two Families of DRL Algorithms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212080" cy="39319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5212080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94559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DISCRETE CHOICES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60319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B1F3A"/>
                </a:solidFill>
                <a:latin typeface="Calibri"/>
              </a:rPr>
              <a:t>DQN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74719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75569"/>
                </a:solidFill>
                <a:latin typeface="Calibri"/>
              </a:rPr>
              <a:t>Picks the best option from a fixed menu of actions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74519"/>
            <a:ext cx="5212080" cy="39319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874519"/>
            <a:ext cx="5212080" cy="635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2194559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CONTINUOUS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560319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0B1F3A"/>
                </a:solidFill>
                <a:latin typeface="Calibri"/>
              </a:rPr>
              <a:t>PPO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474719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75569"/>
                </a:solidFill>
                <a:latin typeface="Calibri"/>
              </a:rPr>
              <a:t>Outputs a precise value and updates behavior gradually and safely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475569"/>
                </a:solidFill>
                <a:latin typeface="Calibri"/>
              </a:rPr>
              <a:t>Both learn from trial and error in simulation — they differ in the shape of the action they produce.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DQN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DQN Explained Simply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14173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102412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41B2E"/>
                </a:solidFill>
                <a:latin typeface="Calibri"/>
              </a:rPr>
              <a:t>DQN (Deep Q-Network) learns to answer one question: “Given this network state, which of my available discrete actions has historically led to the best long-term outcome?”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BEST SUITED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8813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14B8A6"/>
                </a:solidFill>
                <a:latin typeface="Calibri"/>
              </a:rPr>
              <a:t>▸  </a:t>
            </a:r>
            <a:r>
              <a:rPr sz="1600">
                <a:solidFill>
                  <a:srgbClr val="475569"/>
                </a:solidFill>
                <a:latin typeface="Calibri"/>
              </a:rPr>
              <a:t>Categorical, discrete decisions — not fine continuous values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14B8A6"/>
                </a:solidFill>
                <a:latin typeface="Calibri"/>
              </a:rPr>
              <a:t>▸  </a:t>
            </a:r>
            <a:r>
              <a:rPr sz="1600">
                <a:solidFill>
                  <a:srgbClr val="475569"/>
                </a:solidFill>
                <a:latin typeface="Calibri"/>
              </a:rPr>
              <a:t>A fixed, enumerable menu of choices at each step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14B8A6"/>
                </a:solidFill>
                <a:latin typeface="Calibri"/>
              </a:rPr>
              <a:t>▸  </a:t>
            </a:r>
            <a:r>
              <a:rPr sz="1600">
                <a:solidFill>
                  <a:srgbClr val="475569"/>
                </a:solidFill>
                <a:latin typeface="Calibri"/>
              </a:rPr>
              <a:t>Situations where 'which one' matters more than 'how much'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DQN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DQN Use Cases in RAN Planning &amp;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0800" cy="1170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Cell sleep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Turn a carrier or cell ON/OFF for energy saving in low traffic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28800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0800" cy="1170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993392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Beam index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95728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Choose one of a fixed set of beamforming codebook entries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63824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163824"/>
            <a:ext cx="50800" cy="1170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328416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Discrete power 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30752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Pick a power level from a preset list (e.g., 5 fixed steps)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163824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163824"/>
            <a:ext cx="50800" cy="1170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3328416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Admission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30752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Admit, queue, or reject a new session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498848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4498848"/>
            <a:ext cx="50800" cy="1170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66344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Handover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65776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Select which neighboring cell to hand a UE 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498848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498848"/>
            <a:ext cx="50800" cy="11704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466344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Scheduling tier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065776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Choose a discrete MCS / priority tier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PPO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PPO Explained Simply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141732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102412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141B2E"/>
                </a:solidFill>
                <a:latin typeface="Calibri"/>
              </a:rPr>
              <a:t>PPO (Proximal Policy Optimization) outputs a continuous number directly — the exact tilt, exact power in dBm, exact resource split — rather than choosing from a menu.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Calibri"/>
              </a:rPr>
              <a:t>WHY “PROXIMAL”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8813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▸  </a:t>
            </a:r>
            <a:r>
              <a:rPr sz="1600">
                <a:solidFill>
                  <a:srgbClr val="475569"/>
                </a:solidFill>
                <a:latin typeface="Calibri"/>
              </a:rPr>
              <a:t>It constrains how much the policy can change in one update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▸  </a:t>
            </a:r>
            <a:r>
              <a:rPr sz="1600">
                <a:solidFill>
                  <a:srgbClr val="475569"/>
                </a:solidFill>
                <a:latin typeface="Calibri"/>
              </a:rPr>
              <a:t>Stays close to the last known-good behavior — no erratic swings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▸  </a:t>
            </a:r>
            <a:r>
              <a:rPr sz="1600">
                <a:solidFill>
                  <a:srgbClr val="475569"/>
                </a:solidFill>
                <a:latin typeface="Calibri"/>
              </a:rPr>
              <a:t>Critical in live networks, where a bad update has real consequences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PPO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PPO Use Cases in RAN Planning &amp;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0800" cy="1170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Antenna tilt (CCO)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Continuous tilt optimization for coverage &amp; capacity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28800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0800" cy="1170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993392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Transmit power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95728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Fine-grained per-cell / per-beam power adjustment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163824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163824"/>
            <a:ext cx="50800" cy="1170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328416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Massive MIMO beams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30752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Beam weight and beam-steering optimization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163824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163824"/>
            <a:ext cx="50800" cy="1170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3328416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Energy scaling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30752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Continuous power/PRB scaling with load, not hard on/off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498848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4498848"/>
            <a:ext cx="50800" cy="1170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66344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Mobility (MRO)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65776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Tuning HO margins, time-to-trigger, hysteresis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498848"/>
            <a:ext cx="5257800" cy="1170432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498848"/>
            <a:ext cx="50800" cy="11704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466344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1F3A"/>
                </a:solidFill>
                <a:latin typeface="Calibri"/>
              </a:rPr>
              <a:t>Load balancing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065776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Weights across carriers, bands, or RATs (5G/Wi-Fi)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PART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Five Use Cases,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7D2E0"/>
                </a:solidFill>
                <a:latin typeface="Calibri"/>
              </a:rPr>
              <a:t>Coverage · Mobility · Energy · Interference · Planning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Coverage &amp; Capacity Optimization (CCO)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TYPICALLY PPO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8813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41B2E"/>
                </a:solidFill>
                <a:latin typeface="Calibri"/>
              </a:rPr>
              <a:t>The agent learns to balance coverage holes against overshoot interference across a whole cluster of cells — something single-cell tilt optimization can't do, because it never sees the multi-cell coupling that continuous tilt and power changes create.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Mobility Robustness Optimization (MRO)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TYPICALLY PPO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8813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41B2E"/>
                </a:solidFill>
                <a:latin typeface="Calibri"/>
              </a:rPr>
              <a:t>Reduces ping-pong handovers, too-early/too-late handovers, and radio link failures by learning handover parameters per cell-pair from real mobility patterns — instead of one fixed threshold applied everywhere.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Energy Savings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DQN + PPO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8813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41B2E"/>
                </a:solidFill>
                <a:latin typeface="Calibri"/>
              </a:rPr>
              <a:t>Balances energy consumption against QoS by learning when to sleep carriers/cells (DQN) or continuously scale massive MIMO power (PPO) — adapting to each site's actual daily and weekly traffic rhythm rather than a fixed time-based schedule.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Interference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TYPICALLY PPO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8813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41B2E"/>
                </a:solidFill>
                <a:latin typeface="Calibri"/>
              </a:rPr>
              <a:t>Learns per-cell power and PRB allocation patterns that reduce inter-cell interference in dense deployments — especially relevant for small-cell clusters and C-band rollouts where classical ICIC struggles to coordinate across many neighbors.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Network Planning Assistance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SIMULATION-DRIVEN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8813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141B2E"/>
                </a:solidFill>
                <a:latin typeface="Calibri"/>
              </a:rPr>
              <a:t>DRL agents trained inside digital twins/simulators rapidly evaluate ‘what if’ site placement, tilt, and power configurations before rollout — compressing planning cycles that used to require manual, iterative drive-testing.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6G: What Changes, What Doesn't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Extreme massive MIMO / sub-THz</a:t>
            </a:r>
            <a:r>
              <a:rPr sz="1700" b="0">
                <a:solidFill>
                  <a:srgbClr val="475569"/>
                </a:solidFill>
                <a:latin typeface="Calibri"/>
              </a:rPr>
              <a:t>  Beam management at a scale manual tuning can't reach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Integrated Sensing &amp; Communication (ISAC)</a:t>
            </a:r>
            <a:r>
              <a:rPr sz="1700" b="0">
                <a:solidFill>
                  <a:srgbClr val="475569"/>
                </a:solidFill>
                <a:latin typeface="Calibri"/>
              </a:rPr>
              <a:t>  Joint control of sensing and communication parameters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Reconfigurable Intelligent Surfaces (RIS)</a:t>
            </a:r>
            <a:r>
              <a:rPr sz="1700" b="0">
                <a:solidFill>
                  <a:srgbClr val="475569"/>
                </a:solidFill>
                <a:latin typeface="Calibri"/>
              </a:rPr>
              <a:t>  Phase-shift optimization across surface elements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297680"/>
            <a:ext cx="10881360" cy="10972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All three are naturally continuous control problems — a strong fit for PPO-family methods.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How Training Actually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606040" cy="23774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2606040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1. Simulate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21488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Train offline in a simulator or digital twin using historical or synthetic traffic — never directly on the live network</a:t>
            </a:r>
          </a:p>
        </p:txBody>
      </p:sp>
      <p:sp>
        <p:nvSpPr>
          <p:cNvPr id="10" name="Chevron 9"/>
          <p:cNvSpPr/>
          <p:nvPr/>
        </p:nvSpPr>
        <p:spPr>
          <a:xfrm>
            <a:off x="3250692" y="3182112"/>
            <a:ext cx="128016" cy="219456"/>
          </a:xfrm>
          <a:prstGeom prst="chevron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2103120"/>
            <a:ext cx="2606040" cy="23774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0" y="2103120"/>
            <a:ext cx="2606040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23774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2. 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971800"/>
            <a:ext cx="21488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Extensive testing in simulation before any real-world exposure</a:t>
            </a:r>
          </a:p>
        </p:txBody>
      </p:sp>
      <p:sp>
        <p:nvSpPr>
          <p:cNvPr id="15" name="Chevron 14"/>
          <p:cNvSpPr/>
          <p:nvPr/>
        </p:nvSpPr>
        <p:spPr>
          <a:xfrm>
            <a:off x="5993892" y="3182112"/>
            <a:ext cx="128016" cy="219456"/>
          </a:xfrm>
          <a:prstGeom prst="chevron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2103120"/>
            <a:ext cx="2606040" cy="23774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2103120"/>
            <a:ext cx="2606040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23774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3. Shadow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71800"/>
            <a:ext cx="21488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Deployed live but only observing and recommending — not acting</a:t>
            </a:r>
          </a:p>
        </p:txBody>
      </p:sp>
      <p:sp>
        <p:nvSpPr>
          <p:cNvPr id="20" name="Chevron 19"/>
          <p:cNvSpPr/>
          <p:nvPr/>
        </p:nvSpPr>
        <p:spPr>
          <a:xfrm>
            <a:off x="8737092" y="3182112"/>
            <a:ext cx="128016" cy="219456"/>
          </a:xfrm>
          <a:prstGeom prst="chevron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69680" y="2103120"/>
            <a:ext cx="2606040" cy="23774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869680" y="2103120"/>
            <a:ext cx="2606040" cy="635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98280" y="237744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1F3A"/>
                </a:solidFill>
                <a:latin typeface="Calibri"/>
              </a:rPr>
              <a:t>4. Canary rollout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971800"/>
            <a:ext cx="21488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75569"/>
                </a:solidFill>
                <a:latin typeface="Calibri"/>
              </a:rPr>
              <a:t>Small cluster deployment, engineers monitoring with rollback 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475569"/>
                </a:solidFill>
                <a:latin typeface="Calibri"/>
              </a:rPr>
              <a:t>Human engineers stay in the loop at every stage, with authority to roll back at any point.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Risks and Practical Guardrails for RF Engineers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Reward shaping pitfalls</a:t>
            </a:r>
            <a:r>
              <a:rPr sz="1700" b="0">
                <a:solidFill>
                  <a:srgbClr val="475569"/>
                </a:solidFill>
                <a:latin typeface="Calibri"/>
              </a:rPr>
              <a:t>  A poorly designed reward can optimize the wrong thing — e.g., maximizing throughput while ignoring energy or fairness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Hard safety bounds</a:t>
            </a:r>
            <a:r>
              <a:rPr sz="1700" b="0">
                <a:solidFill>
                  <a:srgbClr val="475569"/>
                </a:solidFill>
                <a:latin typeface="Calibri"/>
              </a:rPr>
              <a:t>  Guardrails so the agent can't take extreme actions, like power hard limits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Explainability</a:t>
            </a:r>
            <a:r>
              <a:rPr sz="1700" b="0">
                <a:solidFill>
                  <a:srgbClr val="475569"/>
                </a:solidFill>
                <a:latin typeface="Calibri"/>
              </a:rPr>
              <a:t>  Engineers need visibility into why an action was taken, not a black box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Fallback to rules</a:t>
            </a:r>
            <a:r>
              <a:rPr sz="1700" b="0">
                <a:solidFill>
                  <a:srgbClr val="475569"/>
                </a:solidFill>
                <a:latin typeface="Calibri"/>
              </a:rPr>
              <a:t>  Revert to rule-based control if the agent behaves unexpectedly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▸  Drift monitoring</a:t>
            </a:r>
            <a:r>
              <a:rPr sz="1700" b="0">
                <a:solidFill>
                  <a:srgbClr val="475569"/>
                </a:solidFill>
                <a:latin typeface="Calibri"/>
              </a:rPr>
              <a:t>  Watch for performance decay as traffic patterns change over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DECISION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DQN vs. PPO — Quick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3774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17520" y="1828800"/>
            <a:ext cx="4251960" cy="8686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269480" y="1828800"/>
            <a:ext cx="4251960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17520" y="1828800"/>
            <a:ext cx="42519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DQN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828800"/>
            <a:ext cx="42519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PPO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97480"/>
            <a:ext cx="2377440" cy="8686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17520" y="2697480"/>
            <a:ext cx="4251960" cy="8686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69480" y="2697480"/>
            <a:ext cx="4251960" cy="8686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75569"/>
                </a:solidFill>
                <a:latin typeface="Calibri"/>
              </a:rPr>
              <a:t>Control variable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697480"/>
            <a:ext cx="3886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Discrete / categorical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2697480"/>
            <a:ext cx="3886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Continuous / fine-grained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66160"/>
            <a:ext cx="23774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017520" y="3566160"/>
            <a:ext cx="42519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69480" y="3566160"/>
            <a:ext cx="42519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566160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566160"/>
            <a:ext cx="3886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Which cell, which beam index, on/off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566160"/>
            <a:ext cx="3886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Exact power, exact tilt, exact ratio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434840"/>
            <a:ext cx="2377440" cy="8686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17520" y="4434840"/>
            <a:ext cx="4251960" cy="8686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69480" y="4434840"/>
            <a:ext cx="4251960" cy="86868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434840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75569"/>
                </a:solidFill>
                <a:latin typeface="Calibri"/>
              </a:rPr>
              <a:t>Update style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434840"/>
            <a:ext cx="3886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Selects from a fixed menu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4434840"/>
            <a:ext cx="3886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Smooth, bounded, gradual updates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03520"/>
            <a:ext cx="23774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017520" y="5303520"/>
            <a:ext cx="42519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269480" y="5303520"/>
            <a:ext cx="425196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5303520"/>
            <a:ext cx="21031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75569"/>
                </a:solidFill>
                <a:latin typeface="Calibri"/>
              </a:rPr>
              <a:t>Best fit for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5303520"/>
            <a:ext cx="3886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Simpler sandbox problems first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5303520"/>
            <a:ext cx="38862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41B2E"/>
                </a:solidFill>
                <a:latin typeface="Calibri"/>
              </a:rPr>
              <a:t>Production-adjacent, safety-critical rollout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475569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41B2E"/>
                </a:solidFill>
                <a:latin typeface="Calibri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490472"/>
            <a:ext cx="502920" cy="444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DRL is disciplined trial-and-error, not magic.</a:t>
            </a:r>
            <a:r>
              <a:rPr sz="1700" b="0">
                <a:solidFill>
                  <a:srgbClr val="475569"/>
                </a:solidFill>
                <a:latin typeface="Calibri"/>
              </a:rPr>
              <a:t>  It outperforms static rules in complex, multi-cell, multi-objective RAN environments.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</a:t>
            </a:r>
            <a:r>
              <a:rPr sz="1700">
                <a:solidFill>
                  <a:srgbClr val="475569"/>
                </a:solidFill>
                <a:latin typeface="Calibri"/>
              </a:rPr>
              <a:t>DQN suits discrete decisions; PPO suits continuous, fine-grained, safer control.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</a:t>
            </a:r>
            <a:r>
              <a:rPr sz="1700">
                <a:solidFill>
                  <a:srgbClr val="475569"/>
                </a:solidFill>
                <a:latin typeface="Calibri"/>
              </a:rPr>
              <a:t>Success depends more on reward design and staged rollout than on algorithm choice alone.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sz="1700" b="1">
                <a:solidFill>
                  <a:srgbClr val="14B8A6"/>
                </a:solidFill>
                <a:latin typeface="Calibri"/>
              </a:rPr>
              <a:t>▸  Start bounded.</a:t>
            </a:r>
            <a:r>
              <a:rPr sz="1700" b="0">
                <a:solidFill>
                  <a:srgbClr val="475569"/>
                </a:solidFill>
                <a:latin typeface="Calibri"/>
              </a:rPr>
              <a:t>  Pick one well-instrumented use case — energy savings or tilt optimization — before attempting network-wide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DRL FOR RAN PLANNING &amp;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5B4"/>
                </a:solidFill>
                <a:latin typeface="Calibri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00800"/>
            <a:ext cx="10908792" cy="9525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B8A6"/>
                </a:solidFill>
                <a:latin typeface="Calibri"/>
              </a:rPr>
              <a:t>OPEN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8961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0" i="1">
                <a:solidFill>
                  <a:srgbClr val="C7D2E0"/>
                </a:solidFill>
                <a:latin typeface="Calibri"/>
              </a:rPr>
              <a:t>Which of your current manual tuning tasks looks most like a DQN problem — and which looks more like a PPO problem?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1736</Words>
  <Application>Microsoft Macintosh PowerPoint</Application>
  <PresentationFormat>Widescreen</PresentationFormat>
  <Paragraphs>242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rao yenamandra</cp:lastModifiedBy>
  <cp:revision>1</cp:revision>
  <dcterms:created xsi:type="dcterms:W3CDTF">2013-01-27T09:14:16Z</dcterms:created>
  <dcterms:modified xsi:type="dcterms:W3CDTF">2026-08-31T16:34:07Z</dcterms:modified>
  <cp:category/>
</cp:coreProperties>
</file>