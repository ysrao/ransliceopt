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7" r:id="rId37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 snapToObjects="1">
      <p:cViewPr varScale="1">
        <p:scale>
          <a:sx n="106" d="100"/>
          <a:sy n="106" d="100"/>
        </p:scale>
        <p:origin x="81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7" Type="http://schemas.openxmlformats.org/officeDocument/2006/relationships/slide" Target="slides/slide3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217920" y="868680"/>
            <a:ext cx="5120640" cy="5120640"/>
          </a:xfrm>
          <a:prstGeom prst="ellipse">
            <a:avLst/>
          </a:prstGeom>
          <a:noFill/>
          <a:ln w="1587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766559" y="1417319"/>
            <a:ext cx="4023360" cy="4023360"/>
          </a:xfrm>
          <a:prstGeom prst="ellipse">
            <a:avLst/>
          </a:prstGeom>
          <a:noFill/>
          <a:ln w="1587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0" y="1965960"/>
            <a:ext cx="2926080" cy="2926080"/>
          </a:xfrm>
          <a:prstGeom prst="ellipse">
            <a:avLst/>
          </a:prstGeom>
          <a:noFill/>
          <a:ln w="1587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863840" y="2514600"/>
            <a:ext cx="1828800" cy="1828800"/>
          </a:xfrm>
          <a:prstGeom prst="ellipse">
            <a:avLst/>
          </a:prstGeom>
          <a:noFill/>
          <a:ln w="1587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A ONE-HOUR TECHNICAL SESSION FOR RF &amp; RAN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87782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Deep Reinforcement Learning
for RAN Planning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D2E0"/>
                </a:solidFill>
                <a:latin typeface="Calibri"/>
              </a:rPr>
              <a:t>How DQN and PPO learn to tune coverage, capacity, mobility, interference, and energy the way an experienced RF engineer would — explained without the math.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892040"/>
            <a:ext cx="4572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180000"/>
            <a:ext cx="8778240" cy="4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Dr Rao S Yenamandra</a:t>
            </a:r>
            <a:r>
              <a:rPr sz="1400" b="0" i="0">
                <a:solidFill>
                  <a:srgbClr val="14B8A6"/>
                </a:solidFill>
                <a:latin typeface="Calibri"/>
              </a:rPr>
              <a:t> · DigitalTwinSim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99B0"/>
                </a:solidFill>
                <a:latin typeface="Calibri"/>
              </a:rPr>
              <a:t>60 MINUTES  ·  29 TOPICS  ·  LIGHT ON MATH, HEAVY ON INTUITION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What We'll Cover in 60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929383"/>
            <a:ext cx="1737360" cy="56692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29383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00–10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929383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Why RAN optimization needs AI now, and what RL actually 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34055"/>
            <a:ext cx="1737360" cy="56692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734055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10–25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734055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DQN and PPO explained simply, with RAN use cases for 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38727"/>
            <a:ext cx="1737360" cy="56692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538727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25–45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538727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Deep dives: coverage &amp; capacity, mobility, energy, interference, planning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399"/>
            <a:ext cx="1737360" cy="56692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343399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45–55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343399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How training really works, risks, guardrails, and a decision guide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48071"/>
            <a:ext cx="1737360" cy="56692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148071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55–60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148071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Takeaways and open discussion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Why AI Is Entering RAN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400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Complexity has outgrown manual tuning.</a:t>
            </a:r>
            <a:r>
              <a:rPr sz="1700" b="0">
                <a:solidFill>
                  <a:srgbClr val="475569"/>
                </a:solidFill>
                <a:latin typeface="Calibri"/>
              </a:rPr>
              <a:t>  Multi-band, multi-vendor, massive MIMO, and dense small cells create far more tunable parameters than a team can hand-tune.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Rule-based SON hits a ceiling.</a:t>
            </a:r>
            <a:r>
              <a:rPr sz="1700" b="0">
                <a:solidFill>
                  <a:srgbClr val="475569"/>
                </a:solidFill>
                <a:latin typeface="Calibri"/>
              </a:rPr>
              <a:t>  Static thresholds handle known patterns, but not the combinatorial interactions across thousands of cells.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5G/6G add new control dimensions.</a:t>
            </a:r>
            <a:r>
              <a:rPr sz="1700" b="0">
                <a:solidFill>
                  <a:srgbClr val="475569"/>
                </a:solidFill>
                <a:latin typeface="Calibri"/>
              </a:rPr>
              <a:t>  Beamforming, energy targets, network slicing, and sensing all need coordinated, not isolated, tuning.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874519"/>
            <a:ext cx="4114800" cy="39319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21031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B8A6"/>
                </a:solidFill>
                <a:latin typeface="Calibri"/>
              </a:rPr>
              <a:t>SCALE OF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6060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1000s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06324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of cells per market, each with dozens of tunable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65760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24/7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11480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traffic patterns that shift hourly, daily, and seasonally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091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Multi-cell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516636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tradeoffs a single-cell fix can't see (coverage vs. interference)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The Limits of Traditional RAN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Reactive, not consequential.</a:t>
            </a:r>
            <a:r>
              <a:rPr sz="1700" b="0">
                <a:solidFill>
                  <a:srgbClr val="475569"/>
                </a:solidFill>
                <a:latin typeface="Calibri"/>
              </a:rPr>
              <a:t>  Rule-based SON and legacy ML respond to known patterns — they don't learn the downstream effect of an action.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Blind to delayed tradeoffs.</a:t>
            </a:r>
            <a:r>
              <a:rPr sz="1700" b="0">
                <a:solidFill>
                  <a:srgbClr val="475569"/>
                </a:solidFill>
                <a:latin typeface="Calibri"/>
              </a:rPr>
              <a:t>  Traditional tools optimize what they can see right now, not what happens two rings of cells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03320"/>
            <a:ext cx="10881360" cy="2286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Calibri"/>
              </a:rPr>
              <a:t>A FAMILIAR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41B2E"/>
                </a:solidFill>
                <a:latin typeface="Calibri"/>
              </a:rPr>
              <a:t>You boost power to fix a coverage hole. SINR improves locally — problem solved, according to the rule. But two rings of cells out, interference quietly rises, degrading throughput for neighbors the rule never looked 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What Is Reinforcement Learning? (Plain-Language Loop)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65836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74519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569"/>
                </a:solidFill>
                <a:latin typeface="Calibri"/>
              </a:rPr>
              <a:t>The optimization controller making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32887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532887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32887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569"/>
                </a:solidFill>
                <a:latin typeface="Calibri"/>
              </a:rPr>
              <a:t>The live or simulated RAN — cells, UEs, traffic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91255"/>
            <a:ext cx="10881360" cy="65836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191255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191255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569"/>
                </a:solidFill>
                <a:latin typeface="Calibri"/>
              </a:rPr>
              <a:t>What it observes: SINR, PRB load, throughput, latency, handovers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49623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849623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849623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569"/>
                </a:solidFill>
                <a:latin typeface="Calibri"/>
              </a:rPr>
              <a:t>A parameter it changes: tilt, power, HO offset, sched. weight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07991"/>
            <a:ext cx="10881360" cy="65836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507991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Reward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507991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569"/>
                </a:solidFill>
                <a:latin typeface="Calibri"/>
              </a:rPr>
              <a:t>A score for network health: throughput ↑, drops ↓, energy 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94959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4B8A6"/>
                </a:solidFill>
                <a:latin typeface="Calibri"/>
              </a:rPr>
              <a:t>The loop: observe → act → get scored → learn → repeat — thousands of times in simulation before ever touching a live network.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The RL Loop, in a Few Simple Equations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881360" cy="7132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783080"/>
            <a:ext cx="121615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783080"/>
            <a:ext cx="4892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B8A6"/>
                </a:solidFill>
                <a:latin typeface="Consolas"/>
              </a:rPr>
              <a:t>s_t = ( SINR_t, PRB_t, Thpt_t, Lat_t, ...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783080"/>
            <a:ext cx="4251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A snapshot of network conditions the agent observes at time 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96312"/>
            <a:ext cx="108813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496312"/>
            <a:ext cx="121615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496312"/>
            <a:ext cx="4892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B8A6"/>
                </a:solidFill>
                <a:latin typeface="Consolas"/>
              </a:rPr>
              <a:t>DQN: a_t ∈ {a₁, ..., aₙ}   |   PPO: a_t ∈ [a_min, a_max]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496312"/>
            <a:ext cx="4251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A discrete pick (DQN) or a precise continuous value (PPO)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09544"/>
            <a:ext cx="10881360" cy="7132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209544"/>
            <a:ext cx="121615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209544"/>
            <a:ext cx="4892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B8A6"/>
                </a:solidFill>
                <a:latin typeface="Consolas"/>
              </a:rPr>
              <a:t>r_t = w₁·Throughput_t − w₂·Drops_t − w₃·Energy_t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209544"/>
            <a:ext cx="4251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A weighted KPI score — same idea as a weighted scorecard engineers already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22776"/>
            <a:ext cx="108813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3922776"/>
            <a:ext cx="121615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Penalty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922776"/>
            <a:ext cx="4892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B8A6"/>
                </a:solidFill>
                <a:latin typeface="Consolas"/>
              </a:rPr>
              <a:t>r_t′ = r_t − λ·Violation(a_t)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922776"/>
            <a:ext cx="4251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Subtracts a cost whenever an action breaks an operating 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36008"/>
            <a:ext cx="10881360" cy="7132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4636008"/>
            <a:ext cx="121615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Guardrail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4636008"/>
            <a:ext cx="4892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B8A6"/>
                </a:solidFill>
                <a:latin typeface="Consolas"/>
              </a:rPr>
              <a:t>a_t = clip( a_t , a_min , a_max 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636008"/>
            <a:ext cx="4251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Hard-clamps the action so it can never leave a safe operating 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49240"/>
            <a:ext cx="1088136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349240"/>
            <a:ext cx="121615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Objective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349240"/>
            <a:ext cx="4892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B8A6"/>
                </a:solidFill>
                <a:latin typeface="Consolas"/>
              </a:rPr>
              <a:t>G_t = Σ  γᵏ · r_{t+k}   (k = 0 → ∞)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5349240"/>
            <a:ext cx="4251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What the agent is really maximizing: reward now plus discounted future reward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None of this runs by hand — the network learns the weights and bounds through simulation. This is just the shape of what it's learning.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The RAN as a Multi-Step Decision Process (MDP)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881360" cy="9601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1B2E"/>
                </a:solidFill>
                <a:latin typeface="Calibri"/>
              </a:rPr>
              <a:t>An MDP is just a formal name for “a sequence of decisions where each one shapes the next.” Formally: (S, A, P, R, γ) — states, actions, transitions, rewards, and a discount factor.</a:t>
            </a:r>
          </a:p>
        </p:txBody>
      </p:sp>
      <p:sp>
        <p:nvSpPr>
          <p:cNvPr id="8" name="Oval 7"/>
          <p:cNvSpPr/>
          <p:nvPr/>
        </p:nvSpPr>
        <p:spPr>
          <a:xfrm>
            <a:off x="630936" y="2916936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33649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onsolas"/>
              </a:rPr>
              <a:t>s₀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0" y="3108960"/>
            <a:ext cx="0" cy="0"/>
          </a:xfrm>
          <a:prstGeom prst="line">
            <a:avLst/>
          </a:prstGeom>
          <a:ln w="1905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383536" y="291693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72640" y="33649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onsolas"/>
              </a:rPr>
              <a:t>a₀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3108960"/>
            <a:ext cx="0" cy="0"/>
          </a:xfrm>
          <a:prstGeom prst="line">
            <a:avLst/>
          </a:prstGeom>
          <a:ln w="1905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136136" y="2916936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25240" y="33649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onsolas"/>
              </a:rPr>
              <a:t>s₁, r₁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3108960"/>
            <a:ext cx="0" cy="0"/>
          </a:xfrm>
          <a:prstGeom prst="line">
            <a:avLst/>
          </a:prstGeom>
          <a:ln w="1905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888736" y="291693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77840" y="33649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onsolas"/>
              </a:rPr>
              <a:t>a₁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0" y="3108960"/>
            <a:ext cx="0" cy="0"/>
          </a:xfrm>
          <a:prstGeom prst="line">
            <a:avLst/>
          </a:prstGeom>
          <a:ln w="1905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641336" y="2916936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30440" y="33649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onsolas"/>
              </a:rPr>
              <a:t>s₂, r₂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0" y="3108960"/>
            <a:ext cx="0" cy="0"/>
          </a:xfrm>
          <a:prstGeom prst="line">
            <a:avLst/>
          </a:prstGeom>
          <a:ln w="1905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393936" y="291693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83040" y="33649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onsolas"/>
              </a:rPr>
              <a:t>a₂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0" y="3108960"/>
            <a:ext cx="0" cy="0"/>
          </a:xfrm>
          <a:prstGeom prst="line">
            <a:avLst/>
          </a:prstGeom>
          <a:ln w="19050">
            <a:solidFill>
              <a:srgbClr val="DC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146536" y="2916936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35640" y="33649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onsolas"/>
              </a:rPr>
              <a:t>s₃, r₃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B8A6"/>
                </a:solidFill>
                <a:latin typeface="Calibri"/>
              </a:rPr>
              <a:t>TWO IDEAS THAT MATTER IN PRACTICE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26280"/>
            <a:ext cx="108813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Markov property:</a:t>
            </a:r>
            <a:r>
              <a:rPr sz="1500" b="0">
                <a:solidFill>
                  <a:srgbClr val="475569"/>
                </a:solidFill>
                <a:latin typeface="Calibri"/>
              </a:rPr>
              <a:t>  s_{t+1} depends only on s_t and a_t — the agent doesn't need the network's entire history, just its current reading.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Credit assignment:</a:t>
            </a:r>
            <a:r>
              <a:rPr sz="1500" b="0">
                <a:solidFill>
                  <a:srgbClr val="475569"/>
                </a:solidFill>
                <a:latin typeface="Calibri"/>
              </a:rPr>
              <a:t>  a tilt or power change now may not show its full effect for several steps — handover patterns and interference settle over minutes. γ (from the equations slide) is what lets the agent value that delayed payoff.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Simple RL vs. Deep RL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212080" cy="39319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9360" y="1874519"/>
            <a:ext cx="5212080" cy="3931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48839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Calibri"/>
              </a:rPr>
              <a:t>Simple (Tabular) 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19"/>
            <a:ext cx="45720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475569"/>
                </a:solidFill>
                <a:latin typeface="Calibri"/>
              </a:rPr>
              <a:t>Keeps a lookup table: one best action per state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475569"/>
                </a:solidFill>
                <a:latin typeface="Calibri"/>
              </a:rPr>
              <a:t>Works only for small, discrete problems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475569"/>
                </a:solidFill>
                <a:latin typeface="Calibri"/>
              </a:rPr>
              <a:t>Examples: Q-learning, SARSA, Monte Carlo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475569"/>
                </a:solidFill>
                <a:latin typeface="Calibri"/>
              </a:rPr>
              <a:t>Breaks down once state space gets large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48839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Deep 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88919"/>
            <a:ext cx="45720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D8E1EE"/>
                </a:solidFill>
                <a:latin typeface="Calibri"/>
              </a:rPr>
              <a:t>Replaces the table with a neural network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D8E1EE"/>
                </a:solidFill>
                <a:latin typeface="Calibri"/>
              </a:rPr>
              <a:t>Generalizes across states it hasn't exactly seen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D8E1EE"/>
                </a:solidFill>
                <a:latin typeface="Calibri"/>
              </a:rPr>
              <a:t>Examples: DQN, PPO, and others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D8E1EE"/>
                </a:solidFill>
                <a:latin typeface="Calibri"/>
              </a:rPr>
              <a:t>Needed the moment state is large or continuous — which is basically always in real RAN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Two Families of DRL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212080" cy="39319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521208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94559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DISCRETE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19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B1F3A"/>
                </a:solidFill>
                <a:latin typeface="Calibri"/>
              </a:rPr>
              <a:t>DQN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74719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Picks the best option from a fixed menu of 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74519"/>
            <a:ext cx="5212080" cy="39319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874519"/>
            <a:ext cx="5212080" cy="6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2194559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CONTINUOUS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60319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B1F3A"/>
                </a:solidFill>
                <a:latin typeface="Calibri"/>
              </a:rPr>
              <a:t>PPO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474719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Outputs a precise value and updates behavior gradually and safely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475569"/>
                </a:solidFill>
                <a:latin typeface="Calibri"/>
              </a:rPr>
              <a:t>Both learn from trial and error in simulation — they differ in the shape of the action they produce.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DQN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DQN Explained Simply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14173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41B2E"/>
                </a:solidFill>
                <a:latin typeface="Calibri"/>
              </a:rPr>
              <a:t>DQN (Deep Q-Network) learns to answer one question: “Given this network state, which of my available discrete actions has historically led to the best long-term outcome?”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BEST SUITED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8813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14B8A6"/>
                </a:solidFill>
                <a:latin typeface="Calibri"/>
              </a:rPr>
              <a:t>▸  </a:t>
            </a:r>
            <a:r>
              <a:rPr sz="1600">
                <a:solidFill>
                  <a:srgbClr val="475569"/>
                </a:solidFill>
                <a:latin typeface="Calibri"/>
              </a:rPr>
              <a:t>Categorical, discrete decisions — not fine continuous values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14B8A6"/>
                </a:solidFill>
                <a:latin typeface="Calibri"/>
              </a:rPr>
              <a:t>▸  </a:t>
            </a:r>
            <a:r>
              <a:rPr sz="1600">
                <a:solidFill>
                  <a:srgbClr val="475569"/>
                </a:solidFill>
                <a:latin typeface="Calibri"/>
              </a:rPr>
              <a:t>A fixed, enumerable menu of choices at each step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14B8A6"/>
                </a:solidFill>
                <a:latin typeface="Calibri"/>
              </a:rPr>
              <a:t>▸  </a:t>
            </a:r>
            <a:r>
              <a:rPr sz="1600">
                <a:solidFill>
                  <a:srgbClr val="475569"/>
                </a:solidFill>
                <a:latin typeface="Calibri"/>
              </a:rPr>
              <a:t>Situations where 'which one' matters more than 'how much'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DQN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DQN Use Cases in RAN Planning &amp;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Cell sleep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Turn a carrier or cell ON/OFF for energy saving in low traffic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993392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Beam index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95728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Choose one of a fixed set of beamforming codebook entries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63824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163824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328416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Discrete power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3075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Pick a power level from a preset list (e.g., 5 fixed steps)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163824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163824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3328416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Admission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3075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Admit, queue, or reject a new session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98848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498848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Handover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65776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Select which neighboring cell to hand a UE 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498848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498848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66344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Scheduling 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065776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Choose a discrete MCS / priority 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DQN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DQN: Choosing Inputs and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12080" cy="36576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INPUTS (STATE FEATURES)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663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PRB utilization (%) for this cell and neighbors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Active UE count and traffic mix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Time of day / day-of-week traffic trend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Current SINR and interference readings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212080" cy="3657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B3D1"/>
                </a:solidFill>
                <a:latin typeface="Calibri"/>
              </a:rPr>
              <a:t>OUTPUT — ONE Q-VALUE PER DISCRETE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2E0"/>
                </a:solidFill>
                <a:latin typeface="Calibri"/>
              </a:rPr>
              <a:t>Example action menu: {Stay Awake, Sleep 1 Carrier, Sleep 2 Carriers}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89504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B8A6"/>
                </a:solidFill>
                <a:latin typeface="Consolas"/>
              </a:rPr>
              <a:t>Q = [ 0.82, 0.91, 0.34 ]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5204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2E0"/>
                </a:solidFill>
                <a:latin typeface="Calibri"/>
              </a:rPr>
              <a:t>Agent picks the highest-scoring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49624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B8A6"/>
                </a:solidFill>
                <a:latin typeface="Consolas"/>
              </a:rPr>
              <a:t>action = argmax(Q)  →  Sleep 1 Carrier</a:t>
            </a:r>
          </a:p>
        </p:txBody>
      </p:sp>
      <p:sp>
        <p:nvSpPr>
          <p:cNvPr id="15" name="Chevron 14"/>
          <p:cNvSpPr/>
          <p:nvPr/>
        </p:nvSpPr>
        <p:spPr>
          <a:xfrm>
            <a:off x="5833872" y="3456432"/>
            <a:ext cx="365760" cy="402336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Design choice for DQN: the input is a feature vector; the output layer has exactly one node per possible action. Adding a new action means adding a new output node and retraining.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PPO Explained Simply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14173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41B2E"/>
                </a:solidFill>
                <a:latin typeface="Calibri"/>
              </a:rPr>
              <a:t>PPO (Proximal Policy Optimization) outputs a continuous number directly — the exact tilt, exact power in dBm, exact resource split — rather than choosing from a menu.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00000"/>
            <a:ext cx="5240680" cy="33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alibri"/>
              </a:rPr>
              <a:t>WHY “PROXIMAL”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40000"/>
            <a:ext cx="5240680" cy="2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▸  </a:t>
            </a:r>
            <a:r>
              <a:rPr sz="1300">
                <a:solidFill>
                  <a:srgbClr val="475569"/>
                </a:solidFill>
                <a:latin typeface="Calibri"/>
              </a:rPr>
              <a:t>It constrains how much the policy can change in one update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▸  </a:t>
            </a:r>
            <a:r>
              <a:rPr sz="1300">
                <a:solidFill>
                  <a:srgbClr val="475569"/>
                </a:solidFill>
                <a:latin typeface="Calibri"/>
              </a:rPr>
              <a:t>Stays close to the last known-good behavior — no erratic swings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▸  </a:t>
            </a:r>
            <a:r>
              <a:rPr sz="1300">
                <a:solidFill>
                  <a:srgbClr val="475569"/>
                </a:solidFill>
                <a:latin typeface="Calibri"/>
              </a:rPr>
              <a:t>Critical in live networks, where a bad update has real consequences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0760" y="3600000"/>
            <a:ext cx="5240680" cy="33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BEST SUITED 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0760" y="4040000"/>
            <a:ext cx="5240680" cy="22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▸  </a:t>
            </a:r>
            <a:r>
              <a:rPr sz="1300">
                <a:solidFill>
                  <a:srgbClr val="475569"/>
                </a:solidFill>
                <a:latin typeface="Calibri"/>
              </a:rPr>
              <a:t>Continuous, fine-grained values — not a fixed menu of choices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▸  </a:t>
            </a:r>
            <a:r>
              <a:rPr sz="1300">
                <a:solidFill>
                  <a:srgbClr val="475569"/>
                </a:solidFill>
                <a:latin typeface="Calibri"/>
              </a:rPr>
              <a:t>Smooth, gradual adjustment toward a target setting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▸  </a:t>
            </a:r>
            <a:r>
              <a:rPr sz="1300">
                <a:solidFill>
                  <a:srgbClr val="475569"/>
                </a:solidFill>
                <a:latin typeface="Calibri"/>
              </a:rPr>
              <a:t>Situations where 'how much' matters more than 'which one'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PPO Use Cases in RAN Planning &amp;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Antenna tilt (CCO)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Continuous tilt optimization for coverage &amp; capacity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993392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Transmit power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95728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Fine-grained per-cell / per-beam power adjustment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63824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163824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328416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Massive MIMO beams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3075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Beam weight and beam-steering optimization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163824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163824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3328416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Energy scaling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3075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Continuous power/PRB scaling with load, not hard on/off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98848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498848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Mobility (MRO)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65776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Tuning HO margins, time-to-trigger, hysteresis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498848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498848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66344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Load balancing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065776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Weights across carriers, bands, or RATs (5G/Wi-Fi)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PPO: Choosing Inputs and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12080" cy="36576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INPUTS (STATE FEATURES)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663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SINR distribution across the sector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Throughput, latency, and drop-rate trends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Interference reported by neighboring cells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Current tilt / power setting (so it knows its starting point)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212080" cy="3657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B3D1"/>
                </a:solidFill>
                <a:latin typeface="Calibri"/>
              </a:rPr>
              <a:t>OUTPUT — A DISTRIBUTION OVER A CONTINUOUS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2E0"/>
                </a:solidFill>
                <a:latin typeface="Calibri"/>
              </a:rPr>
              <a:t>The network outputs a mean and a spread, not one fixed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89504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59E0B"/>
                </a:solidFill>
                <a:latin typeface="Consolas"/>
              </a:rPr>
              <a:t>μ = 4.2°,  σ = 0.3°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5204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2E0"/>
                </a:solidFill>
                <a:latin typeface="Calibri"/>
              </a:rPr>
              <a:t>Training samples from it (exploration); inference just takes the 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49624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59E0B"/>
                </a:solidFill>
                <a:latin typeface="Consolas"/>
              </a:rPr>
              <a:t>a_t ~ N(μ, σ)  →  a_t = 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430000"/>
            <a:ext cx="466344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7D2E0"/>
                </a:solidFill>
                <a:latin typeface="Calibri"/>
              </a:rPr>
              <a:t>In plain terms: μ is the value the policy settled on, and σ is how far it explores around μ while training — at deployment it just uses μ.</a:t>
            </a:r>
          </a:p>
        </p:txBody>
      </p:sp>
      <p:sp>
        <p:nvSpPr>
          <p:cNvPr id="15" name="Chevron 14"/>
          <p:cNvSpPr/>
          <p:nvPr/>
        </p:nvSpPr>
        <p:spPr>
          <a:xfrm>
            <a:off x="5833872" y="3456432"/>
            <a:ext cx="365760" cy="402336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Design choice for PPO: the output layer has two nodes per continuous action (its mean and spread) instead of one node per menu item — that's what lets it express “tilt down by 4.2°” instead of only choosing from a fixed 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Custom Neural Network vs. Open-Source SLM as the Policy Backbone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212080" cy="3429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21208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F3A"/>
                </a:solidFill>
                <a:latin typeface="Calibri"/>
              </a:rPr>
              <a:t>Custom Neural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>
                <a:solidFill>
                  <a:srgbClr val="475569"/>
                </a:solidFill>
                <a:latin typeface="Calibri"/>
              </a:rPr>
              <a:t>Small MLP/CNN trained from scratch directly on numeric KPI vectors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>
                <a:solidFill>
                  <a:srgbClr val="475569"/>
                </a:solidFill>
                <a:latin typeface="Calibri"/>
              </a:rPr>
              <a:t>Thousands to low millions of parameters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>
                <a:solidFill>
                  <a:srgbClr val="475569"/>
                </a:solidFill>
                <a:latin typeface="Calibri"/>
              </a:rPr>
              <a:t>Inference in microseconds — fits inline in a real-time control loop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>
                <a:solidFill>
                  <a:srgbClr val="475569"/>
                </a:solidFill>
                <a:latin typeface="Calibri"/>
              </a:rPr>
              <a:t>Trained purely from the reward signal (DQN/PPO) — no language understanding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212080" cy="3429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03911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Open-Source SLM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5176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>
                <a:solidFill>
                  <a:srgbClr val="D8E1EE"/>
                </a:solidFill>
                <a:latin typeface="Calibri"/>
              </a:rPr>
              <a:t>Pretrained small language model (e.g. Llama, Phi, Mistral-class) repurposed as a decision layer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>
                <a:solidFill>
                  <a:srgbClr val="D8E1EE"/>
                </a:solidFill>
                <a:latin typeface="Calibri"/>
              </a:rPr>
              <a:t>Billions of parameters — orders of magnitude larger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>
                <a:solidFill>
                  <a:srgbClr val="D8E1EE"/>
                </a:solidFill>
                <a:latin typeface="Calibri"/>
              </a:rPr>
              <a:t>Inference in tens to hundreds of milliseconds — too slow for a tight per-TTI loop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>
                <a:solidFill>
                  <a:srgbClr val="D8E1EE"/>
                </a:solidFill>
                <a:latin typeface="Calibri"/>
              </a:rPr>
              <a:t>Brings general reasoning and can explain its decision in plain language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349240"/>
            <a:ext cx="1088136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Rule of thumb: use a custom NN for the fast, precise, numeric control loop itself (tilt, power, admission, sleep). An SLM fits better one layer up — reading alarms/tickets in natural language and deciding which specialized DQN/PPO policy to invoke, or explaining a decision to an engineer.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PART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Five Use Cases,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7D2E0"/>
                </a:solidFill>
                <a:latin typeface="Calibri"/>
              </a:rPr>
              <a:t>Coverage · Mobility · Energy · Interference · Planning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Coverage &amp; Capacity Optimization (CCO)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TYPICALLY PPO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8813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41B2E"/>
                </a:solidFill>
                <a:latin typeface="Calibri"/>
              </a:rPr>
              <a:t>The agent learns to balance coverage holes against overshoot interference across a whole cluster of cells — something single-cell tilt optimization can't do, because it never sees the multi-cell coupling that continuous tilt and power changes create.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Mobility Robustness Optimization (MRO)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TYPICALLY PPO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8813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41B2E"/>
                </a:solidFill>
                <a:latin typeface="Calibri"/>
              </a:rPr>
              <a:t>Reduces ping-pong handovers, too-early/too-late handovers, and radio link failures by learning handover parameters per cell-pair from real mobility patterns — instead of one fixed threshold applied everywhere.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Energy Savings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DQN + PPO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8813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41B2E"/>
                </a:solidFill>
                <a:latin typeface="Calibri"/>
              </a:rPr>
              <a:t>Balances energy consumption against QoS by learning when to sleep carriers/cells (DQN) or continuously scale massive MIMO power (PPO) — adapting to each site's actual daily and weekly traffic rhythm rather than a fixed time-based schedule.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Interference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TYPICALLY PPO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8813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41B2E"/>
                </a:solidFill>
                <a:latin typeface="Calibri"/>
              </a:rPr>
              <a:t>Learns per-cell power and PRB allocation patterns that reduce inter-cell interference in dense deployments — especially relevant for small-cell clusters and C-band rollouts where classical ICIC struggles to coordinate across many neighbors.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Network Planning Assistance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SIMULATION-DRIVEN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8813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41B2E"/>
                </a:solidFill>
                <a:latin typeface="Calibri"/>
              </a:rPr>
              <a:t>DRL agents trained inside digital twins/simulators rapidly evaluate ‘what if’ site placement, tilt, and power configurations before rollout — compressing planning cycles that used to require manual, iterative drive-testing.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6G: What Changes, What Doesn't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Extreme massive MIMO / sub-THz</a:t>
            </a:r>
            <a:r>
              <a:rPr sz="1700" b="0">
                <a:solidFill>
                  <a:srgbClr val="475569"/>
                </a:solidFill>
                <a:latin typeface="Calibri"/>
              </a:rPr>
              <a:t>  Beam management at a scale manual tuning can't reach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Integrated Sensing &amp; Communication (ISAC)</a:t>
            </a:r>
            <a:r>
              <a:rPr sz="1700" b="0">
                <a:solidFill>
                  <a:srgbClr val="475569"/>
                </a:solidFill>
                <a:latin typeface="Calibri"/>
              </a:rPr>
              <a:t>  Joint control of sensing and communication parameters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Reconfigurable Intelligent Surfaces (RIS)</a:t>
            </a:r>
            <a:r>
              <a:rPr sz="1700" b="0">
                <a:solidFill>
                  <a:srgbClr val="475569"/>
                </a:solidFill>
                <a:latin typeface="Calibri"/>
              </a:rPr>
              <a:t>  Phase-shift optimization across surface elements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97680"/>
            <a:ext cx="10881360" cy="10972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All three are naturally continuous control problems — a strong fit for PPO-family methods.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Training Phase vs. Inference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12080" cy="39319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21208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Calibri"/>
              </a:rPr>
              <a:t>Training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457200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Agent explores — takes some random / noisy actions on purpose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Experience is collected: a replay buffer (DQN) or rollout trajectories (PPO)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A loss is computed (TD-error for DQN, clipped surrogate objective for PPO) and weights are updated by backpropagation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475569"/>
                </a:solidFill>
                <a:latin typeface="Calibri"/>
              </a:rPr>
              <a:t>Runs for many simulated episodes — hours to days, on GPU compute, entirely offline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212080" cy="3931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1031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Inference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57200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D8E1EE"/>
                </a:solidFill>
                <a:latin typeface="Calibri"/>
              </a:rPr>
              <a:t>Weights are frozen — no more learning happens on the fly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D8E1EE"/>
                </a:solidFill>
                <a:latin typeface="Calibri"/>
              </a:rPr>
              <a:t>Exploration is switched off: the agent takes its best-known action (argmax for DQN, the mean μ for PPO)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D8E1EE"/>
                </a:solidFill>
                <a:latin typeface="Calibri"/>
              </a:rPr>
              <a:t>Just one forward pass through the network per decision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▸  </a:t>
            </a:r>
            <a:r>
              <a:rPr sz="1400">
                <a:solidFill>
                  <a:srgbClr val="D8E1EE"/>
                </a:solidFill>
                <a:latin typeface="Calibri"/>
              </a:rPr>
              <a:t>Runs in milliseconds on modest compute — suitable for a live RIC control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How Do You Know It Converged?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1B2E"/>
                </a:solidFill>
                <a:latin typeface="Calibri"/>
              </a:rPr>
              <a:t>Convergence = training has stopped meaningfully improving the policy.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08813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Reward curve flattens.</a:t>
            </a:r>
            <a:r>
              <a:rPr sz="1500" b="0">
                <a:solidFill>
                  <a:srgbClr val="475569"/>
                </a:solidFill>
                <a:latin typeface="Calibri"/>
              </a:rPr>
              <a:t>  Episode return climbs, then plateaus instead of still trending up.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Loss stabilizes.</a:t>
            </a:r>
            <a:r>
              <a:rPr sz="1500" b="0">
                <a:solidFill>
                  <a:srgbClr val="475569"/>
                </a:solidFill>
                <a:latin typeface="Calibri"/>
              </a:rPr>
              <a:t>  TD-error (DQN) or policy loss (PPO) decreases and levels off near a small value.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Policy stops changing much between updates.</a:t>
            </a:r>
            <a:r>
              <a:rPr sz="1500" b="0">
                <a:solidFill>
                  <a:srgbClr val="475569"/>
                </a:solidFill>
                <a:latin typeface="Calibri"/>
              </a:rPr>
              <a:t>  PPO's own clipping is built around bounding this step-to-step change.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Validation KPIs hold steady across independent runs.</a:t>
            </a:r>
            <a:r>
              <a:rPr sz="1500" b="0">
                <a:solidFill>
                  <a:srgbClr val="475569"/>
                </a:solidFill>
                <a:latin typeface="Calibri"/>
              </a:rPr>
              <a:t>  Simulated throughput / drop-rate / energy stop drifting run to run.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29200"/>
            <a:ext cx="10881360" cy="10058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59E0B"/>
                </a:solidFill>
                <a:latin typeface="Calibri"/>
              </a:rPr>
              <a:t>Watch the curve, don't trust a fixed iteration count — a flat reward can also mean the agent settled into a local optimum, not the best possible policy. Validate against varied traffic scenarios before trusting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How Training Actually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606040" cy="23774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60604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1. Simulate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148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Train offline in a simulator or digital twin using historical or synthetic traffic — never directly on the live network</a:t>
            </a:r>
          </a:p>
        </p:txBody>
      </p:sp>
      <p:sp>
        <p:nvSpPr>
          <p:cNvPr id="10" name="Chevron 9"/>
          <p:cNvSpPr/>
          <p:nvPr/>
        </p:nvSpPr>
        <p:spPr>
          <a:xfrm>
            <a:off x="3250692" y="3182112"/>
            <a:ext cx="128016" cy="219456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2103120"/>
            <a:ext cx="2606040" cy="23774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2103120"/>
            <a:ext cx="260604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2.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71800"/>
            <a:ext cx="2148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Extensive testing in simulation before any real-world exposure</a:t>
            </a:r>
          </a:p>
        </p:txBody>
      </p:sp>
      <p:sp>
        <p:nvSpPr>
          <p:cNvPr id="15" name="Chevron 14"/>
          <p:cNvSpPr/>
          <p:nvPr/>
        </p:nvSpPr>
        <p:spPr>
          <a:xfrm>
            <a:off x="5993892" y="3182112"/>
            <a:ext cx="128016" cy="219456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2103120"/>
            <a:ext cx="2606040" cy="23774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2103120"/>
            <a:ext cx="260604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3. Shadow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71800"/>
            <a:ext cx="2148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Deployed live but only observing and recommending — not acting</a:t>
            </a:r>
          </a:p>
        </p:txBody>
      </p:sp>
      <p:sp>
        <p:nvSpPr>
          <p:cNvPr id="20" name="Chevron 19"/>
          <p:cNvSpPr/>
          <p:nvPr/>
        </p:nvSpPr>
        <p:spPr>
          <a:xfrm>
            <a:off x="8737092" y="3182112"/>
            <a:ext cx="128016" cy="219456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69680" y="2103120"/>
            <a:ext cx="2606040" cy="23774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69680" y="2103120"/>
            <a:ext cx="260604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8280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4. Canary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971800"/>
            <a:ext cx="2148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Small cluster deployment, engineers monitoring with rollback 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475569"/>
                </a:solidFill>
                <a:latin typeface="Calibri"/>
              </a:rPr>
              <a:t>Human engineers stay in the loop at every stage, with authority to roll back at any point.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Risks and Practical Guardrails for RF Engineers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Reward shaping pitfalls</a:t>
            </a:r>
            <a:r>
              <a:rPr sz="1700" b="0">
                <a:solidFill>
                  <a:srgbClr val="475569"/>
                </a:solidFill>
                <a:latin typeface="Calibri"/>
              </a:rPr>
              <a:t>  A poorly designed reward can optimize the wrong thing — e.g., maximizing throughput while ignoring energy or fairness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Hard safety bounds</a:t>
            </a:r>
            <a:r>
              <a:rPr sz="1700" b="0">
                <a:solidFill>
                  <a:srgbClr val="475569"/>
                </a:solidFill>
                <a:latin typeface="Calibri"/>
              </a:rPr>
              <a:t>  Guardrails so the agent can't take extreme actions, like power hard limits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Explainability</a:t>
            </a:r>
            <a:r>
              <a:rPr sz="1700" b="0">
                <a:solidFill>
                  <a:srgbClr val="475569"/>
                </a:solidFill>
                <a:latin typeface="Calibri"/>
              </a:rPr>
              <a:t>  Engineers need visibility into why an action was taken, not a black box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Fallback to rules</a:t>
            </a:r>
            <a:r>
              <a:rPr sz="1700" b="0">
                <a:solidFill>
                  <a:srgbClr val="475569"/>
                </a:solidFill>
                <a:latin typeface="Calibri"/>
              </a:rPr>
              <a:t>  Revert to rule-based control if the agent behaves unexpectedly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Drift monitoring</a:t>
            </a:r>
            <a:r>
              <a:rPr sz="1700" b="0">
                <a:solidFill>
                  <a:srgbClr val="475569"/>
                </a:solidFill>
                <a:latin typeface="Calibri"/>
              </a:rPr>
              <a:t>  Watch for performance decay as traffic patterns change over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Guarded DQN vs. Guarded PPO — a Real PRACH Storm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PRACH storm mitigation: synchronized mIoT devices flood the random-access channel, collide on preambles, and retry — a real overload scenario, not a toy problem.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10881360" cy="9601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Calibri"/>
              </a:rPr>
              <a:t>THE SHARED 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onsolas"/>
              </a:rPr>
              <a:t>Admission ceiling ∝ 0.90M/B_t  caps how wide either agent can open access  |  Recovery floor ∝ 0.35M/B_t  stops either agent from throttling forever while idle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204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3520440"/>
            <a:ext cx="406908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52360" y="3520440"/>
            <a:ext cx="406908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3520440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Guarded DQN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520440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Guarded PPO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977640"/>
            <a:ext cx="2743200" cy="4572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83280" y="3977640"/>
            <a:ext cx="4069080" cy="4572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52360" y="3977640"/>
            <a:ext cx="4069080" cy="4572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9776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75569"/>
                </a:solidFill>
                <a:latin typeface="Calibri"/>
              </a:rPr>
              <a:t>Success rate (3,000-device storm)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977640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onsolas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977640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onsolas"/>
              </a:rPr>
              <a:t>99.8%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348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83280" y="4434840"/>
            <a:ext cx="4069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52360" y="4434840"/>
            <a:ext cx="4069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4348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75569"/>
                </a:solidFill>
                <a:latin typeface="Calibri"/>
              </a:rPr>
              <a:t>Failures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434840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onsolas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434840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onsolas"/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92040"/>
            <a:ext cx="2743200" cy="4572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83280" y="4892040"/>
            <a:ext cx="4069080" cy="4572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52360" y="4892040"/>
            <a:ext cx="4069080" cy="4572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8920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75569"/>
                </a:solidFill>
                <a:latin typeface="Calibri"/>
              </a:rPr>
              <a:t>95th-pct. delay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892040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onsolas"/>
              </a:rPr>
              <a:t>18.6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892040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onsolas"/>
              </a:rPr>
              <a:t>22.2 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3492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383280" y="5349240"/>
            <a:ext cx="4069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452360" y="5349240"/>
            <a:ext cx="40690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53492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75569"/>
                </a:solidFill>
                <a:latin typeface="Calibri"/>
              </a:rPr>
              <a:t>Held-out scenarios won (of 30)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5349240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onsolas"/>
              </a:rPr>
              <a:t>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5349240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onsolas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94360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Read carefully: both controllers shared the identical guard, state, reward, and training storms — this favors DQN within this shared guard on a 13-action discrete PRACH control problem, not a general claim that DQN beats PPO. Guard-only and unguarded ablations are still future work.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DECISION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DQN vs. PPO — Quick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3774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17520" y="1828800"/>
            <a:ext cx="4251960" cy="8686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69480" y="1828800"/>
            <a:ext cx="4251960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1828800"/>
            <a:ext cx="42519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DQN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828800"/>
            <a:ext cx="42519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97480"/>
            <a:ext cx="237744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17520" y="2697480"/>
            <a:ext cx="425196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69480" y="2697480"/>
            <a:ext cx="425196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75569"/>
                </a:solidFill>
                <a:latin typeface="Calibri"/>
              </a:rPr>
              <a:t>Control variable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9748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Discrete / categorical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69748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Continuous / fine-grained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23774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017520" y="3566160"/>
            <a:ext cx="4251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69480" y="3566160"/>
            <a:ext cx="4251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56616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56616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Which cell, which beam index, on/off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56616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Exact power, exact tilt, exact ratio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34840"/>
            <a:ext cx="237744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17520" y="4434840"/>
            <a:ext cx="425196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69480" y="4434840"/>
            <a:ext cx="425196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43484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75569"/>
                </a:solidFill>
                <a:latin typeface="Calibri"/>
              </a:rPr>
              <a:t>Update style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43484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Selects from a fixed menu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43484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Smooth, bounded, gradual updates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03520"/>
            <a:ext cx="23774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017520" y="5303520"/>
            <a:ext cx="4251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269480" y="5303520"/>
            <a:ext cx="4251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530352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75569"/>
                </a:solidFill>
                <a:latin typeface="Calibri"/>
              </a:rPr>
              <a:t>Best fit for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30352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Simpler sandbox problems first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530352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Production-adjacent, safety-critical rollout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DRL is disciplined trial-and-error, not magic.</a:t>
            </a:r>
            <a:r>
              <a:rPr sz="1700" b="0">
                <a:solidFill>
                  <a:srgbClr val="475569"/>
                </a:solidFill>
                <a:latin typeface="Calibri"/>
              </a:rPr>
              <a:t>  It outperforms static rules in complex, multi-cell, multi-objective RAN environments.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</a:t>
            </a:r>
            <a:r>
              <a:rPr sz="1700">
                <a:solidFill>
                  <a:srgbClr val="475569"/>
                </a:solidFill>
                <a:latin typeface="Calibri"/>
              </a:rPr>
              <a:t>DQN suits discrete decisions; PPO suits continuous, fine-grained, safer control.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</a:t>
            </a:r>
            <a:r>
              <a:rPr sz="1700">
                <a:solidFill>
                  <a:srgbClr val="475569"/>
                </a:solidFill>
                <a:latin typeface="Calibri"/>
              </a:rPr>
              <a:t>Success depends more on reward design and staged rollout than on algorithm choice alone.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Start bounded.</a:t>
            </a:r>
            <a:r>
              <a:rPr sz="1700" b="0">
                <a:solidFill>
                  <a:srgbClr val="475569"/>
                </a:solidFill>
                <a:latin typeface="Calibri"/>
              </a:rPr>
              <a:t>  Pick one well-instrumented use case — energy savings or tilt optimization — before attempting network-wide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OPEN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1">
                <a:solidFill>
                  <a:srgbClr val="C7D2E0"/>
                </a:solidFill>
                <a:latin typeface="Calibri"/>
              </a:rPr>
              <a:t>Which of your current manual tuning tasks looks most like a DQN problem — and which looks more like a PPO problem?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Weighting the PPO Reward by KPI Importance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1170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0000"/>
            <a:ext cx="10241280" cy="9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41B2E"/>
                </a:solidFill>
                <a:latin typeface="Calibri"/>
              </a:rPr>
              <a:t>PPO doesn’t optimize each KPI on its own — it maximizes one weighted score. Every input KPI carries a weight set by its importance to the slice SLA, so re-weighting the reward re-points the same agent at a new objective.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0000"/>
            <a:ext cx="524068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EXAMPLE — eMBB REWARD WEIGHTS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40000"/>
            <a:ext cx="5240680" cy="215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00" b="1">
                <a:solidFill>
                  <a:srgbClr val="141B2E"/>
                </a:solidFill>
                <a:latin typeface="Calibri"/>
              </a:rPr>
              <a:t>Throughput</a:t>
            </a:r>
            <a:r>
              <a:rPr sz="1100">
                <a:solidFill>
                  <a:srgbClr val="5B6675"/>
                </a:solidFill>
                <a:latin typeface="Calibri"/>
              </a:rPr>
              <a:t>  —  w ≈ 0.35  ·  primary eMBB SLA target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00" b="1">
                <a:solidFill>
                  <a:srgbClr val="141B2E"/>
                </a:solidFill>
                <a:latin typeface="Calibri"/>
              </a:rPr>
              <a:t>PRB / spectral efficiency</a:t>
            </a:r>
            <a:r>
              <a:rPr sz="1100">
                <a:solidFill>
                  <a:srgbClr val="5B6675"/>
                </a:solidFill>
                <a:latin typeface="Calibri"/>
              </a:rPr>
              <a:t>  —  w ≈ 0.25  ·  capacity headroom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00" b="1">
                <a:solidFill>
                  <a:srgbClr val="141B2E"/>
                </a:solidFill>
                <a:latin typeface="Calibri"/>
              </a:rPr>
              <a:t>SINR margin</a:t>
            </a:r>
            <a:r>
              <a:rPr sz="1100">
                <a:solidFill>
                  <a:srgbClr val="5B6675"/>
                </a:solidFill>
                <a:latin typeface="Calibri"/>
              </a:rPr>
              <a:t>  —  w ≈ 0.20  ·  link quality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00" b="1">
                <a:solidFill>
                  <a:srgbClr val="141B2E"/>
                </a:solidFill>
                <a:latin typeface="Calibri"/>
              </a:rPr>
              <a:t>Energy per bit</a:t>
            </a:r>
            <a:r>
              <a:rPr sz="1100">
                <a:solidFill>
                  <a:srgbClr val="5B6675"/>
                </a:solidFill>
                <a:latin typeface="Calibri"/>
              </a:rPr>
              <a:t>  —  w ≈ 0.12  ·  OPEX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100" b="1">
                <a:solidFill>
                  <a:srgbClr val="141B2E"/>
                </a:solidFill>
                <a:latin typeface="Calibri"/>
              </a:rPr>
              <a:t>Latency</a:t>
            </a:r>
            <a:r>
              <a:rPr sz="1100">
                <a:solidFill>
                  <a:srgbClr val="5B6675"/>
                </a:solidFill>
                <a:latin typeface="Calibri"/>
              </a:rPr>
              <a:t>  —  w ≈ 0.08  ·  eMBB tolerates delay — weighted last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80000"/>
            <a:ext cx="524068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A5B4"/>
                </a:solidFill>
                <a:latin typeface="Calibri"/>
              </a:rPr>
              <a:t>Weights are chosen in reward design (see slide 6) — set by engineers, not learned.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0000" y="3180000"/>
            <a:ext cx="5401440" cy="302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0000" y="3380000"/>
            <a:ext cx="485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EE0D1"/>
                </a:solidFill>
                <a:latin typeface="Calibri"/>
              </a:rPr>
              <a:t>SAME KPIs, DIFFERENT SLICE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0000" y="3800000"/>
            <a:ext cx="4850000" cy="22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5EE0D1"/>
                </a:solidFill>
                <a:latin typeface="Calibri"/>
              </a:rPr>
              <a:t>▸  </a:t>
            </a:r>
            <a:r>
              <a:rPr sz="1100">
                <a:solidFill>
                  <a:srgbClr val="E7EEF2"/>
                </a:solidFill>
                <a:latin typeface="Calibri"/>
              </a:rPr>
              <a:t>URLLC — latency and reliability jump to the top; throughput weight drops down the list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5EE0D1"/>
                </a:solidFill>
                <a:latin typeface="Calibri"/>
              </a:rPr>
              <a:t>▸  </a:t>
            </a:r>
            <a:r>
              <a:rPr sz="1100">
                <a:solidFill>
                  <a:srgbClr val="E7EEF2"/>
                </a:solidFill>
                <a:latin typeface="Calibri"/>
              </a:rPr>
              <a:t>mIoT — admission fairness and energy dominate; throughput weight falls near zero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 b="1">
                <a:solidFill>
                  <a:srgbClr val="5EE0D1"/>
                </a:solidFill>
                <a:latin typeface="Calibri"/>
              </a:rPr>
              <a:t>▸  </a:t>
            </a:r>
            <a:r>
              <a:rPr sz="1100">
                <a:solidFill>
                  <a:srgbClr val="E7EEF2"/>
                </a:solidFill>
                <a:latin typeface="Calibri"/>
              </a:rPr>
              <a:t>The weights encode the SLA — the state and action design never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800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3121</Words>
  <Application>Microsoft Macintosh PowerPoint</Application>
  <PresentationFormat>Widescreen</PresentationFormat>
  <Paragraphs>379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Dr Rao S Yenamandra</Manager>
  <Company>DigitalTwinSim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Reinforcement Learning for RAN Planning &amp; Optimization</dc:title>
  <dc:subject/>
  <dc:creator>Dr Rao S Yenamandra</dc:creator>
  <cp:keywords/>
  <dc:description>generated using python-pptx</dc:description>
  <cp:lastModifiedBy>rao yenamandra</cp:lastModifiedBy>
  <cp:revision>2</cp:revision>
  <dcterms:created xsi:type="dcterms:W3CDTF">2013-01-27T09:14:16Z</dcterms:created>
  <dcterms:modified xsi:type="dcterms:W3CDTF">2026-08-31T17:13:27Z</dcterms:modified>
  <cp:category/>
</cp:coreProperties>
</file>